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C6CB62-580E-49FC-A9A7-DF95F2217ED8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274B1A-F10F-4922-8243-D848575F09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2318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274B1A-F10F-4922-8243-D848575F097E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425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7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18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731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AEC5DE"/>
                </a:solidFill>
                <a:latin typeface="Aptos"/>
              </a:rPr>
              <a:t>NLP PROJECT  /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7132320" cy="2331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500" b="1" i="0">
                <a:solidFill>
                  <a:srgbClr val="FFFFFF"/>
                </a:solidFill>
                <a:latin typeface="Aptos"/>
              </a:rPr>
              <a:t>AI-Powered
Research Paper
Analysis &amp;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112" y="4041648"/>
            <a:ext cx="731520" cy="50292"/>
          </a:xfrm>
          <a:prstGeom prst="rect">
            <a:avLst/>
          </a:prstGeom>
          <a:solidFill>
            <a:srgbClr val="E18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4315968"/>
            <a:ext cx="6949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D5DEE9"/>
                </a:solidFill>
                <a:latin typeface="Aptos"/>
              </a:rPr>
              <a:t>Turning academic documents into structured research insights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298448"/>
            <a:ext cx="2880360" cy="4343400"/>
          </a:xfrm>
          <a:prstGeom prst="roundRect">
            <a:avLst/>
          </a:prstGeom>
          <a:solidFill>
            <a:srgbClr val="1F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32520" y="1664208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AEC5DE"/>
                </a:solidFill>
                <a:latin typeface="Aptos"/>
              </a:rPr>
              <a:t>PROJECT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011680"/>
            <a:ext cx="23317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N" b="1" dirty="0">
                <a:solidFill>
                  <a:srgbClr val="FFFFFF"/>
                </a:solidFill>
                <a:latin typeface="Aptos"/>
              </a:rPr>
              <a:t>Jatin K </a:t>
            </a:r>
            <a:r>
              <a:rPr lang="en-IN" b="1" dirty="0" err="1">
                <a:solidFill>
                  <a:srgbClr val="FFFFFF"/>
                </a:solidFill>
                <a:latin typeface="Aptos"/>
              </a:rPr>
              <a:t>Sangewar</a:t>
            </a:r>
            <a:endParaRPr sz="18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32520" y="2487168"/>
            <a:ext cx="23774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5DEE9"/>
                </a:solidFill>
                <a:latin typeface="Aptos"/>
              </a:rPr>
              <a:t>B.Tech CSE — Data Science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32520" y="3154680"/>
            <a:ext cx="1737360" cy="18288"/>
          </a:xfrm>
          <a:prstGeom prst="rect">
            <a:avLst/>
          </a:prstGeom>
          <a:solidFill>
            <a:srgbClr val="4B61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32520" y="3429000"/>
            <a:ext cx="21945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 dirty="0">
                <a:solidFill>
                  <a:srgbClr val="AEC5DE"/>
                </a:solidFill>
                <a:latin typeface="Aptos"/>
              </a:rPr>
              <a:t>Registration No.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3703320"/>
            <a:ext cx="2286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N" sz="1400" dirty="0">
                <a:solidFill>
                  <a:srgbClr val="FFFFFF"/>
                </a:solidFill>
                <a:latin typeface="Aptos"/>
              </a:rPr>
              <a:t>23FE10CDS00283</a:t>
            </a:r>
            <a:endParaRPr sz="1400" b="0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32520" y="4251960"/>
            <a:ext cx="24231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 dirty="0">
                <a:solidFill>
                  <a:srgbClr val="D5DEE9"/>
                </a:solidFill>
                <a:latin typeface="Aptos"/>
              </a:rPr>
              <a:t>Batch F   </a:t>
            </a:r>
            <a:endParaRPr lang="en-IN" sz="2000" dirty="0">
              <a:solidFill>
                <a:srgbClr val="D5DEE9"/>
              </a:solidFill>
              <a:latin typeface="Aptos"/>
            </a:endParaRPr>
          </a:p>
          <a:p>
            <a:pPr algn="l">
              <a:spcAft>
                <a:spcPts val="0"/>
              </a:spcAft>
            </a:pPr>
            <a:r>
              <a:rPr sz="2000" b="0" i="0" dirty="0">
                <a:solidFill>
                  <a:srgbClr val="D5DEE9"/>
                </a:solidFill>
                <a:latin typeface="Aptos"/>
              </a:rPr>
              <a:t>GitHub: </a:t>
            </a:r>
            <a:r>
              <a:rPr lang="en-IN" sz="2000" b="0" i="0" dirty="0" err="1">
                <a:solidFill>
                  <a:srgbClr val="D5DEE9"/>
                </a:solidFill>
                <a:latin typeface="Aptos"/>
              </a:rPr>
              <a:t>jatinn-sw</a:t>
            </a:r>
            <a:endParaRPr sz="2000" b="0" i="0" dirty="0">
              <a:solidFill>
                <a:srgbClr val="D5DEE9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96112" y="612648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AEC5DE"/>
                </a:solidFill>
                <a:latin typeface="Aptos"/>
              </a:rPr>
              <a:t>PROJECT OVERVIEW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612648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D5DEE9"/>
                </a:solidFill>
                <a:latin typeface="Aptos"/>
              </a:rPr>
              <a:t>Problem  •  Workflow  •  AI integration  • 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38912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56897"/>
                </a:solidFill>
                <a:latin typeface="Aptos"/>
              </a:rPr>
              <a:t>01 / THE NEED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7899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2742"/>
                </a:solidFill>
                <a:latin typeface="Aptos"/>
              </a:rPr>
              <a:t>Research is growing. Manual review is slow.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99032"/>
            <a:ext cx="106984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87484"/>
                </a:solidFill>
                <a:latin typeface="Aptos"/>
              </a:rPr>
              <a:t>Understanding a paper is only the first step; comparing many papers creates a larger bottleneck.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874519"/>
            <a:ext cx="658368" cy="41148"/>
          </a:xfrm>
          <a:prstGeom prst="rect">
            <a:avLst/>
          </a:prstGeom>
          <a:solidFill>
            <a:srgbClr val="E18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87484"/>
                </a:solidFill>
                <a:latin typeface="Aptos"/>
              </a:rPr>
              <a:t>02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441448"/>
            <a:ext cx="91440" cy="91440"/>
          </a:xfrm>
          <a:prstGeom prst="ellipse">
            <a:avLst/>
          </a:prstGeom>
          <a:solidFill>
            <a:srgbClr val="E18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52144" y="2331720"/>
            <a:ext cx="9820656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283342"/>
                </a:solidFill>
                <a:latin typeface="Aptos"/>
              </a:rPr>
              <a:t>Volume of literature — </a:t>
            </a:r>
            <a:r>
              <a:rPr sz="1700">
                <a:solidFill>
                  <a:srgbClr val="283342"/>
                </a:solidFill>
                <a:latin typeface="Aptos"/>
              </a:rPr>
              <a:t>Researchers often need to screen many papers before finding relevant work.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355848"/>
            <a:ext cx="91440" cy="91440"/>
          </a:xfrm>
          <a:prstGeom prst="ellipse">
            <a:avLst/>
          </a:prstGeom>
          <a:solidFill>
            <a:srgbClr val="E18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52144" y="3246120"/>
            <a:ext cx="9820656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283342"/>
                </a:solidFill>
                <a:latin typeface="Aptos"/>
              </a:rPr>
              <a:t>Scattered information — </a:t>
            </a:r>
            <a:r>
              <a:rPr sz="1700">
                <a:solidFill>
                  <a:srgbClr val="283342"/>
                </a:solidFill>
                <a:latin typeface="Aptos"/>
              </a:rPr>
              <a:t>Objectives, methods, datasets, results and limitations appear in different sections.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270248"/>
            <a:ext cx="91440" cy="91440"/>
          </a:xfrm>
          <a:prstGeom prst="ellipse">
            <a:avLst/>
          </a:prstGeom>
          <a:solidFill>
            <a:srgbClr val="E18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52144" y="4160520"/>
            <a:ext cx="9820656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283342"/>
                </a:solidFill>
                <a:latin typeface="Aptos"/>
              </a:rPr>
              <a:t>Time-intensive comparison — </a:t>
            </a:r>
            <a:r>
              <a:rPr sz="1700">
                <a:solidFill>
                  <a:srgbClr val="283342"/>
                </a:solidFill>
                <a:latin typeface="Aptos"/>
              </a:rPr>
              <a:t>Manual synthesis makes it difficult to identify patterns and research gaps efficiently.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257800"/>
            <a:ext cx="9966960" cy="658368"/>
          </a:xfrm>
          <a:prstGeom prst="roundRect">
            <a:avLst/>
          </a:prstGeom>
          <a:solidFill>
            <a:srgbClr val="E1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70432" y="546811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56897"/>
                </a:solidFill>
                <a:latin typeface="Aptos"/>
              </a:rPr>
              <a:t>PROJECT GOAL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5394960"/>
            <a:ext cx="7772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62742"/>
                </a:solidFill>
                <a:latin typeface="Aptos"/>
              </a:rPr>
              <a:t>Convert unstructured academic text into organized, useful research insights.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428232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87484"/>
                </a:solidFill>
                <a:latin typeface="Aptos"/>
              </a:rPr>
              <a:t>AI-Powered Research Paper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38912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56897"/>
                </a:solidFill>
                <a:latin typeface="Aptos"/>
              </a:rPr>
              <a:t>02 /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7899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2742"/>
                </a:solidFill>
                <a:latin typeface="Aptos"/>
              </a:rPr>
              <a:t>One workspace for initial paper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99032"/>
            <a:ext cx="106984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87484"/>
                </a:solidFill>
                <a:latin typeface="Aptos"/>
              </a:rPr>
              <a:t>The application brings document processing and AI-generated insights into a single workflow.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874519"/>
            <a:ext cx="658368" cy="41148"/>
          </a:xfrm>
          <a:prstGeom prst="rect">
            <a:avLst/>
          </a:prstGeom>
          <a:solidFill>
            <a:srgbClr val="E18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87484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3337560" cy="23317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514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1894B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834639"/>
            <a:ext cx="29352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62742"/>
                </a:solidFill>
                <a:latin typeface="Aptos"/>
              </a:rPr>
              <a:t>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246120"/>
            <a:ext cx="2935224" cy="1325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87484"/>
                </a:solidFill>
                <a:latin typeface="Aptos"/>
              </a:rPr>
              <a:t>Upload a paper and extract its text for downstream analysis.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331720"/>
            <a:ext cx="3337560" cy="23317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7" y="2514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1894B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834639"/>
            <a:ext cx="29352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62742"/>
                </a:solidFill>
                <a:latin typeface="Aptos"/>
              </a:rPr>
              <a:t>Understand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3246120"/>
            <a:ext cx="2935224" cy="1325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87484"/>
                </a:solidFill>
                <a:latin typeface="Aptos"/>
              </a:rPr>
              <a:t>Generate a structured review of the paper's purpose, approach and findings.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331720"/>
            <a:ext cx="3337560" cy="23317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2514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1894B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834639"/>
            <a:ext cx="29352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62742"/>
                </a:solidFill>
                <a:latin typeface="Aptos"/>
              </a:rPr>
              <a:t>Inspect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3246120"/>
            <a:ext cx="2935224" cy="1325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87484"/>
                </a:solidFill>
                <a:latin typeface="Aptos"/>
              </a:rPr>
              <a:t>Present the resulting information through readable sections and visual summaries.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5780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56897"/>
                </a:solidFill>
                <a:latin typeface="Aptos"/>
              </a:rPr>
              <a:t>DESIGN PRINCIPLE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5175504"/>
            <a:ext cx="8412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2742"/>
                </a:solidFill>
                <a:latin typeface="Aptos"/>
              </a:rPr>
              <a:t>Useful analysis should be traceable to the source paper—not treated as unquestionable truth.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6428232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87484"/>
                </a:solidFill>
                <a:latin typeface="Aptos"/>
              </a:rPr>
              <a:t>AI-Powered Research Paper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38912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56897"/>
                </a:solidFill>
                <a:latin typeface="Aptos"/>
              </a:rPr>
              <a:t>03 /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7899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2742"/>
                </a:solidFill>
                <a:latin typeface="Aptos"/>
              </a:rPr>
              <a:t>What the system is designed to provide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99032"/>
            <a:ext cx="106984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87484"/>
                </a:solidFill>
                <a:latin typeface="Aptos"/>
              </a:rPr>
              <a:t>A compact interface for extracting, reviewing and interpreting research content.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874519"/>
            <a:ext cx="658368" cy="41148"/>
          </a:xfrm>
          <a:prstGeom prst="rect">
            <a:avLst/>
          </a:prstGeom>
          <a:solidFill>
            <a:srgbClr val="E18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87484"/>
                </a:solidFill>
                <a:latin typeface="Aptos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258568"/>
            <a:ext cx="45720" cy="1051560"/>
          </a:xfrm>
          <a:prstGeom prst="rect">
            <a:avLst/>
          </a:prstGeom>
          <a:solidFill>
            <a:srgbClr val="E18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2240280"/>
            <a:ext cx="2971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62742"/>
                </a:solidFill>
                <a:latin typeface="Aptos"/>
              </a:rPr>
              <a:t>Paper 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624328"/>
            <a:ext cx="2971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87484"/>
                </a:solidFill>
                <a:latin typeface="Aptos"/>
              </a:rPr>
              <a:t>Bring a research document into the workflow.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2258568"/>
            <a:ext cx="45720" cy="1051560"/>
          </a:xfrm>
          <a:prstGeom prst="rect">
            <a:avLst/>
          </a:prstGeom>
          <a:solidFill>
            <a:srgbClr val="456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7" y="2240280"/>
            <a:ext cx="2971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62742"/>
                </a:solidFill>
                <a:latin typeface="Aptos"/>
              </a:rPr>
              <a:t>AI paper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624328"/>
            <a:ext cx="2971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87484"/>
                </a:solidFill>
                <a:latin typeface="Aptos"/>
              </a:rPr>
              <a:t>Create a structured assessment of key paper sections.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2258568"/>
            <a:ext cx="45720" cy="1051560"/>
          </a:xfrm>
          <a:prstGeom prst="rect">
            <a:avLst/>
          </a:prstGeom>
          <a:solidFill>
            <a:srgbClr val="456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02168" y="2240280"/>
            <a:ext cx="2971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62742"/>
                </a:solidFill>
                <a:latin typeface="Aptos"/>
              </a:rPr>
              <a:t>Research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2624328"/>
            <a:ext cx="2971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87484"/>
                </a:solidFill>
                <a:latin typeface="Aptos"/>
              </a:rPr>
              <a:t>Condense lengthy text into its main ideas.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3995927"/>
            <a:ext cx="45720" cy="1051560"/>
          </a:xfrm>
          <a:prstGeom prst="rect">
            <a:avLst/>
          </a:prstGeom>
          <a:solidFill>
            <a:srgbClr val="E18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9848" y="3977639"/>
            <a:ext cx="2971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62742"/>
                </a:solidFill>
                <a:latin typeface="Aptos"/>
              </a:rPr>
              <a:t>Metrics &amp; graphs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4361688"/>
            <a:ext cx="2971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87484"/>
                </a:solidFill>
                <a:latin typeface="Aptos"/>
              </a:rPr>
              <a:t>Display analysis results when valid metric data is available.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3995927"/>
            <a:ext cx="45720" cy="1051560"/>
          </a:xfrm>
          <a:prstGeom prst="rect">
            <a:avLst/>
          </a:prstGeom>
          <a:solidFill>
            <a:srgbClr val="456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36007" y="3977639"/>
            <a:ext cx="2971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62742"/>
                </a:solidFill>
                <a:latin typeface="Aptos"/>
              </a:rPr>
              <a:t>Confidence indicators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7" y="4361688"/>
            <a:ext cx="2971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87484"/>
                </a:solidFill>
                <a:latin typeface="Aptos"/>
              </a:rPr>
              <a:t>Communicate reliability only when a meaningful score is calculated.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01000" y="3995927"/>
            <a:ext cx="45720" cy="1051560"/>
          </a:xfrm>
          <a:prstGeom prst="rect">
            <a:avLst/>
          </a:prstGeom>
          <a:solidFill>
            <a:srgbClr val="456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02168" y="3977639"/>
            <a:ext cx="2971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62742"/>
                </a:solidFill>
                <a:latin typeface="Aptos"/>
              </a:rPr>
              <a:t>Interactive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2168" y="4361688"/>
            <a:ext cx="2971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87484"/>
                </a:solidFill>
                <a:latin typeface="Aptos"/>
              </a:rPr>
              <a:t>Make results easy to scan and navigate.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6428232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87484"/>
                </a:solidFill>
                <a:latin typeface="Aptos"/>
              </a:rPr>
              <a:t>AI-Powered Research Paper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38912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56897"/>
                </a:solidFill>
                <a:latin typeface="Aptos"/>
              </a:rPr>
              <a:t>04 / 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7899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2742"/>
                </a:solidFill>
                <a:latin typeface="Aptos"/>
              </a:rPr>
              <a:t>From document to research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99032"/>
            <a:ext cx="106984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87484"/>
                </a:solidFill>
                <a:latin typeface="Aptos"/>
              </a:rPr>
              <a:t>The architecture separates input handling, AI processing and presentation.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874519"/>
            <a:ext cx="658368" cy="41148"/>
          </a:xfrm>
          <a:prstGeom prst="rect">
            <a:avLst/>
          </a:prstGeom>
          <a:solidFill>
            <a:srgbClr val="E18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87484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2057400" cy="14173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94436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1894B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10128"/>
            <a:ext cx="1691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62742"/>
                </a:solidFill>
                <a:latin typeface="Aptos"/>
              </a:rPr>
              <a:t>Upload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03320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87484"/>
                </a:solidFill>
                <a:latin typeface="Aptos"/>
              </a:rPr>
              <a:t>Research paper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7208" y="3255264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456897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81528" y="2743200"/>
            <a:ext cx="2057400" cy="14173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64408" y="294436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1894B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64408" y="3310128"/>
            <a:ext cx="1691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62742"/>
                </a:solidFill>
                <a:latin typeface="Aptos"/>
              </a:rPr>
              <a:t>Extract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4408" y="3703320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87484"/>
                </a:solidFill>
                <a:latin typeface="Aptos"/>
              </a:rPr>
              <a:t>Text &amp; sections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3255264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456897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31536" y="2743200"/>
            <a:ext cx="2057400" cy="14173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14416" y="294436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1894B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14416" y="3310128"/>
            <a:ext cx="1691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62742"/>
                </a:solidFill>
                <a:latin typeface="Aptos"/>
              </a:rPr>
              <a:t>Analyze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14416" y="3703320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87484"/>
                </a:solidFill>
                <a:latin typeface="Aptos"/>
              </a:rPr>
              <a:t>NLP + LLM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07223" y="3255264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456897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81544" y="2743200"/>
            <a:ext cx="2057400" cy="14173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64423" y="294436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1894B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64423" y="3310128"/>
            <a:ext cx="1691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62742"/>
                </a:solidFill>
                <a:latin typeface="Aptos"/>
              </a:rPr>
              <a:t>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64423" y="3703320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87484"/>
                </a:solidFill>
                <a:latin typeface="Aptos"/>
              </a:rPr>
              <a:t>Review &amp; 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57232" y="3255264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456897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31552" y="2743200"/>
            <a:ext cx="2057400" cy="14173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14432" y="294436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1894B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14432" y="3310128"/>
            <a:ext cx="1691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62742"/>
                </a:solidFill>
                <a:latin typeface="Aptos"/>
              </a:rPr>
              <a:t>Display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14432" y="3703320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87484"/>
                </a:solidFill>
                <a:latin typeface="Aptos"/>
              </a:rPr>
              <a:t>Dashboard &amp; charts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" y="4892040"/>
            <a:ext cx="10149840" cy="658368"/>
          </a:xfrm>
          <a:prstGeom prst="roundRect">
            <a:avLst/>
          </a:prstGeom>
          <a:solidFill>
            <a:srgbClr val="E1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298448" y="5102352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2742"/>
                </a:solidFill>
                <a:latin typeface="Aptos"/>
              </a:rPr>
              <a:t>Validation layer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5074920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83342"/>
                </a:solidFill>
                <a:latin typeface="Aptos"/>
              </a:rPr>
              <a:t>Check missing fields, malformed values and API errors before rendering results.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6428232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87484"/>
                </a:solidFill>
                <a:latin typeface="Aptos"/>
              </a:rPr>
              <a:t>AI-Powered Research Paper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38912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56897"/>
                </a:solidFill>
                <a:latin typeface="Aptos"/>
              </a:rPr>
              <a:t>05 / AI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7899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2742"/>
                </a:solidFill>
                <a:latin typeface="Aptos"/>
              </a:rPr>
              <a:t>Where NLP and the LLM add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99032"/>
            <a:ext cx="106984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87484"/>
                </a:solidFill>
                <a:latin typeface="Aptos"/>
              </a:rPr>
              <a:t>The LLM interprets document content; the application controls the structure and presentation of its output.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874519"/>
            <a:ext cx="658368" cy="41148"/>
          </a:xfrm>
          <a:prstGeom prst="rect">
            <a:avLst/>
          </a:prstGeom>
          <a:solidFill>
            <a:srgbClr val="E18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87484"/>
                </a:solidFill>
                <a:latin typeface="Apto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56897"/>
                </a:solidFill>
                <a:latin typeface="Aptos"/>
              </a:rPr>
              <a:t>INPUT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651760"/>
            <a:ext cx="2743200" cy="7772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89864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62742"/>
                </a:solidFill>
                <a:latin typeface="Aptos"/>
              </a:rPr>
              <a:t>Paper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67328" y="28529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E1894B"/>
                </a:solidFill>
                <a:latin typeface="Apto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331720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56897"/>
                </a:solidFill>
                <a:latin typeface="Aptos"/>
              </a:rPr>
              <a:t>PROCESS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651760"/>
            <a:ext cx="2743200" cy="777240"/>
          </a:xfrm>
          <a:prstGeom prst="roundRect">
            <a:avLst/>
          </a:prstGeom>
          <a:solidFill>
            <a:srgbClr val="E1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289864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62742"/>
                </a:solidFill>
                <a:latin typeface="Aptos"/>
              </a:rPr>
              <a:t>Prompt + LLM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51192" y="28529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E1894B"/>
                </a:solidFill>
                <a:latin typeface="Aptos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331720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56897"/>
                </a:solidFill>
                <a:latin typeface="Aptos"/>
              </a:rPr>
              <a:t>OUTPUT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2651760"/>
            <a:ext cx="3246120" cy="7772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92440" y="2898648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62742"/>
                </a:solidFill>
                <a:latin typeface="Aptos"/>
              </a:rPr>
              <a:t>Structured review</a:t>
            </a:r>
          </a:p>
        </p:txBody>
      </p:sp>
      <p:sp>
        <p:nvSpPr>
          <p:cNvPr id="18" name="Oval 17"/>
          <p:cNvSpPr/>
          <p:nvPr/>
        </p:nvSpPr>
        <p:spPr>
          <a:xfrm>
            <a:off x="960120" y="4270248"/>
            <a:ext cx="91440" cy="91440"/>
          </a:xfrm>
          <a:prstGeom prst="ellipse">
            <a:avLst/>
          </a:prstGeom>
          <a:solidFill>
            <a:srgbClr val="E18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97864" y="4160520"/>
            <a:ext cx="9820656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283342"/>
                </a:solidFill>
                <a:latin typeface="Aptos"/>
              </a:rPr>
              <a:t>Prompt engineering — </a:t>
            </a:r>
            <a:r>
              <a:rPr sz="1500">
                <a:solidFill>
                  <a:srgbClr val="283342"/>
                </a:solidFill>
                <a:latin typeface="Aptos"/>
              </a:rPr>
              <a:t>Requests consistent fields such as objective, method, findings and limitations.</a:t>
            </a:r>
          </a:p>
        </p:txBody>
      </p:sp>
      <p:sp>
        <p:nvSpPr>
          <p:cNvPr id="20" name="Oval 19"/>
          <p:cNvSpPr/>
          <p:nvPr/>
        </p:nvSpPr>
        <p:spPr>
          <a:xfrm>
            <a:off x="960120" y="5001768"/>
            <a:ext cx="91440" cy="91440"/>
          </a:xfrm>
          <a:prstGeom prst="ellipse">
            <a:avLst/>
          </a:prstGeom>
          <a:solidFill>
            <a:srgbClr val="E18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97864" y="4892040"/>
            <a:ext cx="9820656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283342"/>
                </a:solidFill>
                <a:latin typeface="Aptos"/>
              </a:rPr>
              <a:t>Structured output — </a:t>
            </a:r>
            <a:r>
              <a:rPr sz="1500">
                <a:solidFill>
                  <a:srgbClr val="283342"/>
                </a:solidFill>
                <a:latin typeface="Aptos"/>
              </a:rPr>
              <a:t>Makes generated content easier to validate and render in the interface.</a:t>
            </a:r>
          </a:p>
        </p:txBody>
      </p:sp>
      <p:sp>
        <p:nvSpPr>
          <p:cNvPr id="22" name="Oval 21"/>
          <p:cNvSpPr/>
          <p:nvPr/>
        </p:nvSpPr>
        <p:spPr>
          <a:xfrm>
            <a:off x="960120" y="5733288"/>
            <a:ext cx="91440" cy="91440"/>
          </a:xfrm>
          <a:prstGeom prst="ellipse">
            <a:avLst/>
          </a:prstGeom>
          <a:solidFill>
            <a:srgbClr val="E18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97864" y="5623560"/>
            <a:ext cx="9820656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283342"/>
                </a:solidFill>
                <a:latin typeface="Aptos"/>
              </a:rPr>
              <a:t>Human verification — </a:t>
            </a:r>
            <a:r>
              <a:rPr sz="1500">
                <a:solidFill>
                  <a:srgbClr val="283342"/>
                </a:solidFill>
                <a:latin typeface="Aptos"/>
              </a:rPr>
              <a:t>Review findings against the paper; LLM output may be incomplete or incorrect.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6428232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87484"/>
                </a:solidFill>
                <a:latin typeface="Aptos"/>
              </a:rPr>
              <a:t>AI-Powered Research Paper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38912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56897"/>
                </a:solidFill>
                <a:latin typeface="Aptos"/>
              </a:rPr>
              <a:t>06 /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7899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2742"/>
                </a:solidFill>
                <a:latin typeface="Aptos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99032"/>
            <a:ext cx="106984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87484"/>
                </a:solidFill>
                <a:latin typeface="Aptos"/>
              </a:rPr>
              <a:t>Replace any placeholder with the exact library or service used in the submitted code.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874519"/>
            <a:ext cx="658368" cy="41148"/>
          </a:xfrm>
          <a:prstGeom prst="rect">
            <a:avLst/>
          </a:prstGeom>
          <a:solidFill>
            <a:srgbClr val="E18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87484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331720"/>
            <a:ext cx="3383280" cy="1143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2514600"/>
            <a:ext cx="2971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56897"/>
                </a:solidFill>
                <a:latin typeface="Aptos"/>
              </a:rPr>
              <a:t>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834639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2742"/>
                </a:solidFill>
                <a:latin typeface="Aptos"/>
              </a:rPr>
              <a:t>Python / project language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331720"/>
            <a:ext cx="3383280" cy="1143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73168" y="2514600"/>
            <a:ext cx="2971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56897"/>
                </a:solidFill>
                <a:latin typeface="Aptos"/>
              </a:rPr>
              <a:t>AI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2834639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2742"/>
                </a:solidFill>
                <a:latin typeface="Aptos"/>
              </a:rPr>
              <a:t>LLM API + prompt template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19" y="2331720"/>
            <a:ext cx="3383280" cy="1143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76488" y="2514600"/>
            <a:ext cx="2971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56897"/>
                </a:solidFill>
                <a:latin typeface="Aptos"/>
              </a:rPr>
              <a:t>DOCUMENT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2834639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2742"/>
                </a:solidFill>
                <a:latin typeface="Aptos"/>
              </a:rPr>
              <a:t>PDF/text extraction tools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86200"/>
            <a:ext cx="3383280" cy="1143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9848" y="4069080"/>
            <a:ext cx="2971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56897"/>
                </a:solidFill>
                <a:latin typeface="Aptos"/>
              </a:rP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4389120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2742"/>
                </a:solidFill>
                <a:latin typeface="Aptos"/>
              </a:rPr>
              <a:t>Application server / API routes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886200"/>
            <a:ext cx="3383280" cy="1143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73168" y="4069080"/>
            <a:ext cx="2971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56897"/>
                </a:solidFill>
                <a:latin typeface="Aptos"/>
              </a:rPr>
              <a:t>FRONTEND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4389120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2742"/>
                </a:solidFill>
                <a:latin typeface="Aptos"/>
              </a:rPr>
              <a:t>Web UI and interactive components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19" y="3886200"/>
            <a:ext cx="3383280" cy="1143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76488" y="4069080"/>
            <a:ext cx="2971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56897"/>
                </a:solidFill>
                <a:latin typeface="Aptos"/>
              </a:rPr>
              <a:t>VISUALIZATION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6488" y="4389120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2742"/>
                </a:solidFill>
                <a:latin typeface="Aptos"/>
              </a:rPr>
              <a:t>Chart library + metric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62356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1894B"/>
                </a:solidFill>
                <a:latin typeface="Aptos"/>
              </a:rPr>
              <a:t>Engineering focus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557784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83342"/>
                </a:solidFill>
                <a:latin typeface="Aptos"/>
              </a:rPr>
              <a:t>Reliable API handling • validated schemas • clear frontend states • reproducible 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6428232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87484"/>
                </a:solidFill>
                <a:latin typeface="Aptos"/>
              </a:rPr>
              <a:t>AI-Powered Research Paper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38912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56897"/>
                </a:solidFill>
                <a:latin typeface="Aptos"/>
              </a:rPr>
              <a:t>07 /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7899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2742"/>
                </a:solidFill>
                <a:latin typeface="Aptos"/>
              </a:rPr>
              <a:t>Validate the output—not just the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99032"/>
            <a:ext cx="106984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87484"/>
                </a:solidFill>
                <a:latin typeface="Aptos"/>
              </a:rPr>
              <a:t>Evaluation should verify that every displayed result is grounded in real, non-empty analysis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874519"/>
            <a:ext cx="658368" cy="41148"/>
          </a:xfrm>
          <a:prstGeom prst="rect">
            <a:avLst/>
          </a:prstGeom>
          <a:solidFill>
            <a:srgbClr val="E18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87484"/>
                </a:solidFill>
                <a:latin typeface="Apto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56897"/>
                </a:solidFill>
                <a:latin typeface="Aptos"/>
              </a:rPr>
              <a:t>WHAT TO TEST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2724912"/>
            <a:ext cx="109728" cy="109728"/>
          </a:xfrm>
          <a:prstGeom prst="ellipse">
            <a:avLst/>
          </a:prstGeom>
          <a:solidFill>
            <a:srgbClr val="E18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2651760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83342"/>
                </a:solidFill>
                <a:latin typeface="Aptos"/>
              </a:rPr>
              <a:t>Paper upload and text extraction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3246120"/>
            <a:ext cx="109728" cy="109728"/>
          </a:xfrm>
          <a:prstGeom prst="ellipse">
            <a:avLst/>
          </a:prstGeom>
          <a:solidFill>
            <a:srgbClr val="E18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3172968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83342"/>
                </a:solidFill>
                <a:latin typeface="Aptos"/>
              </a:rPr>
              <a:t>LLM response and error handling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767328"/>
            <a:ext cx="109728" cy="109728"/>
          </a:xfrm>
          <a:prstGeom prst="ellipse">
            <a:avLst/>
          </a:prstGeom>
          <a:solidFill>
            <a:srgbClr val="E18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3694176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83342"/>
                </a:solidFill>
                <a:latin typeface="Aptos"/>
              </a:rPr>
              <a:t>Review fields populated correctly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4288536"/>
            <a:ext cx="109728" cy="109728"/>
          </a:xfrm>
          <a:prstGeom prst="ellipse">
            <a:avLst/>
          </a:prstGeom>
          <a:solidFill>
            <a:srgbClr val="E18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4215383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83342"/>
                </a:solidFill>
                <a:latin typeface="Aptos"/>
              </a:rPr>
              <a:t>Metrics and charts receive valid data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" y="4809744"/>
            <a:ext cx="109728" cy="109728"/>
          </a:xfrm>
          <a:prstGeom prst="ellipse">
            <a:avLst/>
          </a:prstGeom>
          <a:solidFill>
            <a:srgbClr val="E18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4736592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83342"/>
                </a:solidFill>
                <a:latin typeface="Aptos"/>
              </a:rPr>
              <a:t>Confidence values are calculated, not defaulted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2331720"/>
            <a:ext cx="4663440" cy="32918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0" y="2651760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56897"/>
                </a:solidFill>
                <a:latin typeface="Aptos"/>
              </a:rPr>
              <a:t>KNOWN ISSUES UNDER INVESTIGATION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15468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62742"/>
                </a:solidFill>
                <a:latin typeface="Aptos"/>
              </a:rPr>
              <a:t>Metrics / graphs not loading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502152"/>
            <a:ext cx="37490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87484"/>
                </a:solidFill>
                <a:latin typeface="Aptos"/>
              </a:rPr>
              <a:t>Possible causes: empty API response, data-shape mismatch, failed chart rendering or missing field mapping.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38912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62742"/>
                </a:solidFill>
                <a:latin typeface="Aptos"/>
              </a:rPr>
              <a:t>Confidence always equals zero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736592"/>
            <a:ext cx="37490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87484"/>
                </a:solidFill>
                <a:latin typeface="Aptos"/>
              </a:rPr>
              <a:t>Possible causes: calculation not called, default value used, or output key mismatch.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06440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62742"/>
                </a:solidFill>
                <a:latin typeface="Aptos"/>
              </a:rPr>
              <a:t>Report measured results only after testing on multiple papers.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6428232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87484"/>
                </a:solidFill>
                <a:latin typeface="Aptos"/>
              </a:rPr>
              <a:t>AI-Powered Research Paper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3891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56897"/>
                </a:solidFill>
                <a:latin typeface="Aptos"/>
              </a:rPr>
              <a:t>09 / LIVE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742"/>
                </a:solidFill>
                <a:latin typeface="Aptos"/>
              </a:rPr>
              <a:t>Real-Time Evidence Audit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99032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87484"/>
                </a:solidFill>
                <a:latin typeface="Aptos"/>
              </a:rPr>
              <a:t>Live metrics from a full audit of an uploaded research paper — every claim verified against its source.</a:t>
            </a:r>
          </a:p>
        </p:txBody>
      </p:sp>
      <p:pic>
        <p:nvPicPr>
          <p:cNvPr id="5" name="Picture 4" descr="WhatsApp Image 2026-10-09 at 7.40.34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65960"/>
            <a:ext cx="6858000" cy="3002911"/>
          </a:xfrm>
          <a:prstGeom prst="rect">
            <a:avLst/>
          </a:prstGeom>
          <a:ln w="12700">
            <a:solidFill>
              <a:srgbClr val="D9DEE4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13232" y="5042023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87484"/>
                </a:solidFill>
                <a:latin typeface="Aptos"/>
              </a:rPr>
              <a:t>ClaimGuard — Evidence Audit Platform · Live Paper Audit Statistics tab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196596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83342"/>
                </a:solidFill>
                <a:latin typeface="Aptos"/>
              </a:rPr>
              <a:t>• 7 claims audited</a:t>
            </a:r>
            <a:r>
              <a:rPr sz="1200" b="0">
                <a:solidFill>
                  <a:srgbClr val="687484"/>
                </a:solidFill>
                <a:latin typeface="Aptos"/>
              </a:rPr>
              <a:t> — extracted automatically from the uploaded paper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88036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83342"/>
                </a:solidFill>
                <a:latin typeface="Aptos"/>
              </a:rPr>
              <a:t>• 6 supported, 1 partial</a:t>
            </a:r>
            <a:r>
              <a:rPr sz="1200" b="0">
                <a:solidFill>
                  <a:srgbClr val="687484"/>
                </a:solidFill>
                <a:latin typeface="Aptos"/>
              </a:rPr>
              <a:t> — no contradicted or insufficient-evidence claims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379476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83342"/>
                </a:solidFill>
                <a:latin typeface="Aptos"/>
              </a:rPr>
              <a:t>• 96% average confidence</a:t>
            </a:r>
            <a:r>
              <a:rPr sz="1200" b="0">
                <a:solidFill>
                  <a:srgbClr val="687484"/>
                </a:solidFill>
                <a:latin typeface="Aptos"/>
              </a:rPr>
              <a:t> — with an evidence-linked verdict per claim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470916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83342"/>
                </a:solidFill>
                <a:latin typeface="Aptos"/>
              </a:rPr>
              <a:t>• 12 pages · 3,622 words · 60 external sources</a:t>
            </a:r>
            <a:r>
              <a:rPr sz="1200" b="0">
                <a:solidFill>
                  <a:srgbClr val="687484"/>
                </a:solidFill>
                <a:latin typeface="Aptos"/>
              </a:rPr>
              <a:t> — audited in 107.7s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6428232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87484"/>
                </a:solidFill>
                <a:latin typeface="Aptos"/>
              </a:rPr>
              <a:t>AI-Powered Research Paper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87484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3891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56897"/>
                </a:solidFill>
                <a:latin typeface="Aptos"/>
              </a:rPr>
              <a:t>09 / LIVE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742"/>
                </a:solidFill>
                <a:latin typeface="Aptos"/>
              </a:rPr>
              <a:t>Claims Explorer — Verdict per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99032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87484"/>
                </a:solidFill>
                <a:latin typeface="Aptos"/>
              </a:rPr>
              <a:t>Each extracted claim carries a verdict, confidence score, category and linked evidence sources.</a:t>
            </a:r>
          </a:p>
        </p:txBody>
      </p:sp>
      <p:pic>
        <p:nvPicPr>
          <p:cNvPr id="5" name="Picture 4" descr="WhatsApp Image 2026-10-09 at 7.40.27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65960"/>
            <a:ext cx="6858000" cy="3011595"/>
          </a:xfrm>
          <a:prstGeom prst="rect">
            <a:avLst/>
          </a:prstGeom>
          <a:ln w="12700">
            <a:solidFill>
              <a:srgbClr val="D9DEE4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13232" y="5050707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87484"/>
                </a:solidFill>
                <a:latin typeface="Aptos"/>
              </a:rPr>
              <a:t>ClaimGuard — Claims Explorer view (document: LLM-based resume–job alignment paper)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196596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83342"/>
                </a:solidFill>
                <a:latin typeface="Aptos"/>
              </a:rPr>
              <a:t>• Claim-level detail</a:t>
            </a:r>
            <a:r>
              <a:rPr sz="1200" b="0">
                <a:solidFill>
                  <a:srgbClr val="687484"/>
                </a:solidFill>
                <a:latin typeface="Aptos"/>
              </a:rPr>
              <a:t> — performance, numerical and comparative claims separated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88036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83342"/>
                </a:solidFill>
                <a:latin typeface="Aptos"/>
              </a:rPr>
              <a:t>• Verdicts + confidence</a:t>
            </a:r>
            <a:r>
              <a:rPr sz="1200" b="0">
                <a:solidFill>
                  <a:srgbClr val="687484"/>
                </a:solidFill>
                <a:latin typeface="Aptos"/>
              </a:rPr>
              <a:t> — SUPPORTED / PARTIAL / CONTRADICTED with per-claim scores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379476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83342"/>
                </a:solidFill>
                <a:latin typeface="Aptos"/>
              </a:rPr>
              <a:t>• Evidence counts</a:t>
            </a:r>
            <a:r>
              <a:rPr sz="1200" b="0">
                <a:solidFill>
                  <a:srgbClr val="687484"/>
                </a:solidFill>
                <a:latin typeface="Aptos"/>
              </a:rPr>
              <a:t> — every claim links to 1–2 external source documents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470916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83342"/>
                </a:solidFill>
                <a:latin typeface="Aptos"/>
              </a:rPr>
              <a:t>• Search &amp; filter</a:t>
            </a:r>
            <a:r>
              <a:rPr sz="1200" b="0">
                <a:solidFill>
                  <a:srgbClr val="687484"/>
                </a:solidFill>
                <a:latin typeface="Aptos"/>
              </a:rPr>
              <a:t> — claims can be filtered by text, verdict and category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6428232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87484"/>
                </a:solidFill>
                <a:latin typeface="Aptos"/>
              </a:rPr>
              <a:t>AI-Powered Research Paper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87484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3891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56897"/>
                </a:solidFill>
                <a:latin typeface="Aptos"/>
              </a:rPr>
              <a:t>10 /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742"/>
                </a:solidFill>
                <a:latin typeface="Aptos"/>
              </a:rPr>
              <a:t>Ground-Truth Benchmark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99032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87484"/>
                </a:solidFill>
                <a:latin typeface="Aptos"/>
              </a:rPr>
              <a:t>System verdicts scored against human-labelled annotations — strictly decoupled from individual audits.</a:t>
            </a:r>
          </a:p>
        </p:txBody>
      </p:sp>
      <p:pic>
        <p:nvPicPr>
          <p:cNvPr id="5" name="Picture 4" descr="WhatsApp Image 2026-10-09 at 8.09.05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65960"/>
            <a:ext cx="6858000" cy="2971498"/>
          </a:xfrm>
          <a:prstGeom prst="rect">
            <a:avLst/>
          </a:prstGeom>
          <a:ln w="12700">
            <a:solidFill>
              <a:srgbClr val="D9DEE4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13232" y="501061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87484"/>
                </a:solidFill>
                <a:latin typeface="Aptos"/>
              </a:rPr>
              <a:t>ClaimGuard — Ground-Truth Benchmark Suite (50 human-labelled test claims)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196596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83342"/>
                </a:solidFill>
                <a:latin typeface="Aptos"/>
              </a:rPr>
              <a:t>• Overall accuracy 60.0%</a:t>
            </a:r>
            <a:r>
              <a:rPr sz="1200" b="0">
                <a:solidFill>
                  <a:srgbClr val="687484"/>
                </a:solidFill>
                <a:latin typeface="Aptos"/>
              </a:rPr>
              <a:t> — macro precision 54.1%, macro recall 59.8%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88036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83342"/>
                </a:solidFill>
                <a:latin typeface="Aptos"/>
              </a:rPr>
              <a:t>• Macro F1 52.7%</a:t>
            </a:r>
            <a:r>
              <a:rPr sz="1200" b="0">
                <a:solidFill>
                  <a:srgbClr val="687484"/>
                </a:solidFill>
                <a:latin typeface="Aptos"/>
              </a:rPr>
              <a:t> — weighted F1 60.1% across five verdict classes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379476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83342"/>
                </a:solidFill>
                <a:latin typeface="Aptos"/>
              </a:rPr>
              <a:t>• Per-class metrics</a:t>
            </a:r>
            <a:r>
              <a:rPr sz="1200" b="0">
                <a:solidFill>
                  <a:srgbClr val="687484"/>
                </a:solidFill>
                <a:latin typeface="Aptos"/>
              </a:rPr>
              <a:t> — SUPPORTED F1 86.5%; CONTRADICTED recall 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470916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83342"/>
                </a:solidFill>
                <a:latin typeface="Aptos"/>
              </a:rPr>
              <a:t>• 3,169 ms per claim</a:t>
            </a:r>
            <a:r>
              <a:rPr sz="1200" b="0">
                <a:solidFill>
                  <a:srgbClr val="687484"/>
                </a:solidFill>
                <a:latin typeface="Aptos"/>
              </a:rPr>
              <a:t> — 100% structured JSON output success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6428232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87484"/>
                </a:solidFill>
                <a:latin typeface="Aptos"/>
              </a:rPr>
              <a:t>AI-Powered Research Paper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87484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3891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56897"/>
                </a:solidFill>
                <a:latin typeface="Aptos"/>
              </a:rPr>
              <a:t>11 /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742"/>
                </a:solidFill>
                <a:latin typeface="Aptos"/>
              </a:rPr>
              <a:t>What the results show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99032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87484"/>
                </a:solidFill>
                <a:latin typeface="Aptos"/>
              </a:rPr>
              <a:t>The audit trail and the benchmark together validate both usability and honest system performance.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56897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210312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83342"/>
                </a:solidFill>
                <a:latin typeface="Aptos"/>
              </a:rPr>
              <a:t>End-to-end workflow verified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514600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87484"/>
                </a:solidFill>
                <a:latin typeface="Aptos"/>
              </a:rPr>
              <a:t>upload → extraction → claim detection → verdicts → dashboard, all on a real paper in under two minutes.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5467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56897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3154679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83342"/>
                </a:solidFill>
                <a:latin typeface="Aptos"/>
              </a:rPr>
              <a:t>High-precision audit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566160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87484"/>
                </a:solidFill>
                <a:latin typeface="Aptos"/>
              </a:rPr>
              <a:t>6 of 7 claims fully supported with 96% average confidence and traceable evidence links.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56897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420624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83342"/>
                </a:solidFill>
                <a:latin typeface="Aptos"/>
              </a:rPr>
              <a:t>Honest, decoupled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4617720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87484"/>
                </a:solidFill>
                <a:latin typeface="Aptos"/>
              </a:rPr>
              <a:t>benchmark accuracy (60.0%) is measured against human labels — not inflated by the system's own audits.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257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56897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525780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83342"/>
                </a:solidFill>
                <a:latin typeface="Aptos"/>
              </a:rPr>
              <a:t>Clear next 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5669280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87484"/>
                </a:solidFill>
                <a:latin typeface="Aptos"/>
              </a:rPr>
              <a:t>improve minority-class recall (PARTIAL / OVERSTATED), lower per-claim latency, and scale to multi-paper comparison.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428232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87484"/>
                </a:solidFill>
                <a:latin typeface="Aptos"/>
              </a:rPr>
              <a:t>AI-Powered Research Paper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87484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7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65836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AEC5DE"/>
                </a:solidFill>
                <a:latin typeface="Aptos"/>
              </a:rPr>
              <a:t>08 /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7040880" cy="2057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ptos"/>
              </a:rPr>
              <a:t>Making research
more structured,
searchable and clear.</a:t>
            </a:r>
          </a:p>
        </p:txBody>
      </p:sp>
      <p:sp>
        <p:nvSpPr>
          <p:cNvPr id="4" name="Rectangle 3"/>
          <p:cNvSpPr/>
          <p:nvPr/>
        </p:nvSpPr>
        <p:spPr>
          <a:xfrm>
            <a:off x="896112" y="3566160"/>
            <a:ext cx="731520" cy="50292"/>
          </a:xfrm>
          <a:prstGeom prst="rect">
            <a:avLst/>
          </a:prstGeom>
          <a:solidFill>
            <a:srgbClr val="E18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3886200"/>
            <a:ext cx="67665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D5DEE9"/>
                </a:solidFill>
                <a:latin typeface="Aptos"/>
              </a:rPr>
              <a:t>The system demonstrates how NLP and LLM-based processing can support the first stage of academic paper analysis.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150876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AEC5DE"/>
                </a:solidFill>
                <a:latin typeface="Aptos"/>
              </a:rPr>
              <a:t>NEXT STEPS</a:t>
            </a:r>
          </a:p>
        </p:txBody>
      </p:sp>
      <p:sp>
        <p:nvSpPr>
          <p:cNvPr id="7" name="Oval 6"/>
          <p:cNvSpPr/>
          <p:nvPr/>
        </p:nvSpPr>
        <p:spPr>
          <a:xfrm>
            <a:off x="8339327" y="1965960"/>
            <a:ext cx="100584" cy="100584"/>
          </a:xfrm>
          <a:prstGeom prst="ellipse">
            <a:avLst/>
          </a:prstGeom>
          <a:solidFill>
            <a:srgbClr val="E18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0" y="1892807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ptos"/>
              </a:rPr>
              <a:t>Improve metric and chart reliability</a:t>
            </a:r>
          </a:p>
        </p:txBody>
      </p:sp>
      <p:sp>
        <p:nvSpPr>
          <p:cNvPr id="9" name="Oval 8"/>
          <p:cNvSpPr/>
          <p:nvPr/>
        </p:nvSpPr>
        <p:spPr>
          <a:xfrm>
            <a:off x="8339327" y="2660904"/>
            <a:ext cx="100584" cy="100584"/>
          </a:xfrm>
          <a:prstGeom prst="ellipse">
            <a:avLst/>
          </a:prstGeom>
          <a:solidFill>
            <a:srgbClr val="E18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0" y="2587752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ptos"/>
              </a:rPr>
              <a:t>Validate confidence-score logic</a:t>
            </a:r>
          </a:p>
        </p:txBody>
      </p:sp>
      <p:sp>
        <p:nvSpPr>
          <p:cNvPr id="11" name="Oval 10"/>
          <p:cNvSpPr/>
          <p:nvPr/>
        </p:nvSpPr>
        <p:spPr>
          <a:xfrm>
            <a:off x="8339327" y="3355848"/>
            <a:ext cx="100584" cy="100584"/>
          </a:xfrm>
          <a:prstGeom prst="ellipse">
            <a:avLst/>
          </a:prstGeom>
          <a:solidFill>
            <a:srgbClr val="E18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0" y="3282696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ptos"/>
              </a:rPr>
              <a:t>Compare multiple papers</a:t>
            </a:r>
          </a:p>
        </p:txBody>
      </p:sp>
      <p:sp>
        <p:nvSpPr>
          <p:cNvPr id="13" name="Oval 12"/>
          <p:cNvSpPr/>
          <p:nvPr/>
        </p:nvSpPr>
        <p:spPr>
          <a:xfrm>
            <a:off x="8339327" y="4050791"/>
            <a:ext cx="100584" cy="100584"/>
          </a:xfrm>
          <a:prstGeom prst="ellipse">
            <a:avLst/>
          </a:prstGeom>
          <a:solidFill>
            <a:srgbClr val="E18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0" y="3977639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ptos"/>
              </a:rPr>
              <a:t>Add evidence-linked research gaps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614476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AEC5DE"/>
                </a:solidFill>
                <a:latin typeface="Aptos"/>
              </a:rPr>
              <a:t>THANK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6144768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N" sz="1000" dirty="0">
                <a:solidFill>
                  <a:srgbClr val="D5DEE9"/>
                </a:solidFill>
                <a:latin typeface="Aptos"/>
              </a:rPr>
              <a:t>Jatin k </a:t>
            </a:r>
            <a:r>
              <a:rPr lang="en-IN" sz="1000" dirty="0" err="1">
                <a:solidFill>
                  <a:srgbClr val="D5DEE9"/>
                </a:solidFill>
                <a:latin typeface="Aptos"/>
              </a:rPr>
              <a:t>Sangewar</a:t>
            </a:r>
            <a:r>
              <a:rPr sz="1000" b="0" i="0" dirty="0">
                <a:solidFill>
                  <a:srgbClr val="D5DEE9"/>
                </a:solidFill>
                <a:latin typeface="Aptos"/>
              </a:rPr>
              <a:t>  •  GitHub: </a:t>
            </a:r>
            <a:r>
              <a:rPr lang="en-IN" sz="1000" dirty="0" err="1">
                <a:solidFill>
                  <a:srgbClr val="D5DEE9"/>
                </a:solidFill>
                <a:latin typeface="Aptos"/>
              </a:rPr>
              <a:t>Jatinn-sw</a:t>
            </a:r>
            <a:endParaRPr sz="1000" b="0" i="0" dirty="0">
              <a:solidFill>
                <a:srgbClr val="D5DEE9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1142</Words>
  <Application>Microsoft Office PowerPoint</Application>
  <PresentationFormat>Widescreen</PresentationFormat>
  <Paragraphs>191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Research Paper Analysis and Review System</dc:title>
  <dc:subject>NLP Project Presentation</dc:subject>
  <dc:creator>Mitakshi Sinha</dc:creator>
  <cp:keywords/>
  <dc:description>generated using python-pptx</dc:description>
  <cp:lastModifiedBy>Mitakshi Sinha [CSE (DATA SCIENCE) - 2024]</cp:lastModifiedBy>
  <cp:revision>3</cp:revision>
  <dcterms:created xsi:type="dcterms:W3CDTF">2013-01-27T09:14:16Z</dcterms:created>
  <dcterms:modified xsi:type="dcterms:W3CDTF">2026-10-09T17:11:33Z</dcterms:modified>
  <cp:category/>
</cp:coreProperties>
</file>